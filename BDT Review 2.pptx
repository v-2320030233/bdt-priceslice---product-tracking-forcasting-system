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71" r:id="rId3"/>
    <p:sldId id="259" r:id="rId4"/>
    <p:sldId id="286" r:id="rId5"/>
    <p:sldId id="287" r:id="rId6"/>
    <p:sldId id="267" r:id="rId7"/>
    <p:sldId id="268" r:id="rId8"/>
    <p:sldId id="263" r:id="rId9"/>
    <p:sldId id="288" r:id="rId10"/>
    <p:sldId id="289" r:id="rId11"/>
    <p:sldId id="290" r:id="rId12"/>
    <p:sldId id="282" r:id="rId13"/>
    <p:sldId id="291" r:id="rId14"/>
    <p:sldId id="276" r:id="rId15"/>
    <p:sldId id="293" r:id="rId16"/>
    <p:sldId id="294" r:id="rId17"/>
    <p:sldId id="296" r:id="rId18"/>
    <p:sldId id="29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69" d="100"/>
          <a:sy n="69" d="100"/>
        </p:scale>
        <p:origin x="480" y="60"/>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6</a:t>
            </a:fld>
            <a:endParaRPr lang="en-IN"/>
          </a:p>
        </p:txBody>
      </p:sp>
    </p:spTree>
    <p:extLst>
      <p:ext uri="{BB962C8B-B14F-4D97-AF65-F5344CB8AC3E}">
        <p14:creationId xmlns:p14="http://schemas.microsoft.com/office/powerpoint/2010/main" val="269332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3/6/2026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3/6/2026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3/6/2026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normAutofit fontScale="90000"/>
          </a:bodyPr>
          <a:lstStyle/>
          <a:p>
            <a:br>
              <a:rPr lang="en-US" dirty="0"/>
            </a:br>
            <a:r>
              <a:rPr lang="en-US" dirty="0"/>
              <a:t>PriceSlice – Product Price Tracking &amp; </a:t>
            </a:r>
            <a:r>
              <a:rPr lang="en-IN" dirty="0"/>
              <a:t>Forecasting</a:t>
            </a:r>
            <a:r>
              <a:rPr lang="en-US" dirty="0"/>
              <a:t> System</a:t>
            </a:r>
            <a:br>
              <a:rPr lang="en-US" sz="4000" b="1" dirty="0">
                <a:solidFill>
                  <a:srgbClr val="252D37"/>
                </a:solidFill>
                <a:latin typeface="Maven Pro Bold"/>
                <a:sym typeface="Maven Pro Bold"/>
              </a:rPr>
            </a:br>
            <a:endParaRPr lang="en-IN" dirty="0"/>
          </a:p>
        </p:txBody>
      </p:sp>
      <p:sp>
        <p:nvSpPr>
          <p:cNvPr id="3" name="Subtitle 2"/>
          <p:cNvSpPr>
            <a:spLocks noGrp="1"/>
          </p:cNvSpPr>
          <p:nvPr>
            <p:ph type="subTitle" idx="1"/>
          </p:nvPr>
        </p:nvSpPr>
        <p:spPr>
          <a:xfrm>
            <a:off x="1693506" y="2977295"/>
            <a:ext cx="8991600" cy="3023062"/>
          </a:xfrm>
        </p:spPr>
        <p:txBody>
          <a:bodyPr>
            <a:normAutofit fontScale="85000" lnSpcReduction="20000"/>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endParaRPr lang="en-US" dirty="0">
              <a:solidFill>
                <a:schemeClr val="tx1">
                  <a:lumMod val="95000"/>
                </a:schemeClr>
              </a:solidFill>
            </a:endParaRPr>
          </a:p>
          <a:p>
            <a:r>
              <a:rPr lang="en-US" b="1" u="sng" dirty="0">
                <a:solidFill>
                  <a:schemeClr val="tx1">
                    <a:lumMod val="95000"/>
                  </a:schemeClr>
                </a:solidFill>
              </a:rPr>
              <a:t>TEAM - 6:</a:t>
            </a:r>
          </a:p>
          <a:p>
            <a:pPr>
              <a:lnSpc>
                <a:spcPct val="107000"/>
              </a:lnSpc>
              <a:spcAft>
                <a:spcPts val="800"/>
              </a:spcAft>
            </a:pPr>
            <a:r>
              <a:rPr lang="en-IN" sz="2600" dirty="0" err="1">
                <a:solidFill>
                  <a:schemeClr val="tx1">
                    <a:lumMod val="95000"/>
                  </a:schemeClr>
                </a:solidFill>
              </a:rPr>
              <a:t>I.Siddartha</a:t>
            </a:r>
            <a:r>
              <a:rPr lang="en-IN" sz="2600" dirty="0">
                <a:solidFill>
                  <a:schemeClr val="tx1">
                    <a:lumMod val="95000"/>
                  </a:schemeClr>
                </a:solidFill>
              </a:rPr>
              <a:t> – 2320030147</a:t>
            </a:r>
          </a:p>
          <a:p>
            <a:pPr>
              <a:lnSpc>
                <a:spcPct val="107000"/>
              </a:lnSpc>
              <a:spcAft>
                <a:spcPts val="800"/>
              </a:spcAft>
            </a:pPr>
            <a:r>
              <a:rPr lang="en-IN" sz="2600" dirty="0">
                <a:solidFill>
                  <a:schemeClr val="tx1">
                    <a:lumMod val="95000"/>
                  </a:schemeClr>
                </a:solidFill>
              </a:rPr>
              <a:t>Varun </a:t>
            </a:r>
            <a:r>
              <a:rPr lang="en-IN" sz="2600" dirty="0" err="1">
                <a:solidFill>
                  <a:schemeClr val="tx1">
                    <a:lumMod val="95000"/>
                  </a:schemeClr>
                </a:solidFill>
              </a:rPr>
              <a:t>Paleru</a:t>
            </a:r>
            <a:r>
              <a:rPr lang="en-IN" sz="2600" dirty="0">
                <a:solidFill>
                  <a:schemeClr val="tx1">
                    <a:lumMod val="95000"/>
                  </a:schemeClr>
                </a:solidFill>
              </a:rPr>
              <a:t> – 2320030233</a:t>
            </a:r>
          </a:p>
          <a:p>
            <a:pPr>
              <a:lnSpc>
                <a:spcPct val="107000"/>
              </a:lnSpc>
              <a:spcAft>
                <a:spcPts val="800"/>
              </a:spcAft>
            </a:pPr>
            <a:r>
              <a:rPr lang="en-IN" sz="2600" dirty="0">
                <a:solidFill>
                  <a:schemeClr val="tx1">
                    <a:lumMod val="95000"/>
                  </a:schemeClr>
                </a:solidFill>
              </a:rPr>
              <a:t>Rushank Chaudhari – 2320030105</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solidFill>
                <a:schemeClr val="tx1">
                  <a:lumMod val="95000"/>
                </a:schemeClr>
              </a:solidFill>
            </a:endParaRPr>
          </a:p>
          <a:p>
            <a:endParaRPr lang="en-IN" dirty="0"/>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fontScale="92500" lnSpcReduction="2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UML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a:bodyPr>
          <a:lstStyle/>
          <a:p>
            <a:pPr marL="0" indent="0" algn="just">
              <a:buNone/>
            </a:pPr>
            <a:endParaRPr lang="en-US" sz="2000" dirty="0"/>
          </a:p>
          <a:p>
            <a:pPr marL="0" indent="0" algn="just">
              <a:buNone/>
            </a:pPr>
            <a:r>
              <a:rPr lang="en-US" sz="2000" dirty="0"/>
              <a:t>PriceSlice is an intelligent price tracking and comparison system designed to help users make better purchasing decisions in online shopping environments. With the rapid growth of e-commerce platforms, product prices vary across different websites and change frequently due to discounts and market demand. The proposed system collects product price information from multiple platforms using APIs and stores historical price data for analysis. By analyzing past price trends, the system can visualize price changes and apply forecasting techniques to estimate future price movements. This enables users to identify the best time to purchase a product and find the most affordable options across platforms. The system integrates modern web technologies and data analysis techniques to provide a centralized and intelligent solution for smart online shopping.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319841" y="2302933"/>
            <a:ext cx="9056297" cy="3726931"/>
          </a:xfrm>
        </p:spPr>
        <p:txBody>
          <a:bodyPr>
            <a:normAutofit/>
          </a:bodyPr>
          <a:lstStyle/>
          <a:p>
            <a:pPr marL="342900" indent="-342900" algn="l">
              <a:buClr>
                <a:schemeClr val="bg1"/>
              </a:buClr>
              <a:buFont typeface="Arial" panose="020B0604020202020204" pitchFamily="34" charset="0"/>
              <a:buChar char="•"/>
            </a:pPr>
            <a:r>
              <a:rPr lang="en-IN" dirty="0">
                <a:solidFill>
                  <a:schemeClr val="bg1"/>
                </a:solidFill>
              </a:rPr>
              <a:t>Many e-commerce websites sell the same product but with </a:t>
            </a:r>
            <a:r>
              <a:rPr lang="en-IN" b="1" dirty="0">
                <a:solidFill>
                  <a:schemeClr val="bg1"/>
                </a:solidFill>
              </a:rPr>
              <a:t>different prices</a:t>
            </a:r>
            <a:r>
              <a:rPr lang="en-IN" dirty="0">
                <a:solidFill>
                  <a:schemeClr val="bg1"/>
                </a:solidFill>
              </a:rPr>
              <a:t>.</a:t>
            </a:r>
            <a:br>
              <a:rPr lang="en-IN" dirty="0">
                <a:solidFill>
                  <a:schemeClr val="bg1"/>
                </a:solidFill>
              </a:rPr>
            </a:br>
            <a:r>
              <a:rPr lang="en-IN" dirty="0">
                <a:solidFill>
                  <a:schemeClr val="bg1"/>
                </a:solidFill>
              </a:rPr>
              <a:t>Users usually check multiple websites manually, which </a:t>
            </a:r>
            <a:r>
              <a:rPr lang="en-IN" b="1" dirty="0">
                <a:solidFill>
                  <a:schemeClr val="bg1"/>
                </a:solidFill>
              </a:rPr>
              <a:t>takes time and effort</a:t>
            </a:r>
            <a:r>
              <a:rPr lang="en-IN" dirty="0">
                <a:solidFill>
                  <a:schemeClr val="bg1"/>
                </a:solidFill>
              </a:rPr>
              <a:t>.</a:t>
            </a:r>
          </a:p>
          <a:p>
            <a:pPr marL="342900" indent="-342900" algn="l">
              <a:buClr>
                <a:schemeClr val="bg1"/>
              </a:buClr>
              <a:buFont typeface="Arial" panose="020B0604020202020204" pitchFamily="34" charset="0"/>
              <a:buChar char="•"/>
            </a:pPr>
            <a:r>
              <a:rPr lang="en-IN" dirty="0">
                <a:solidFill>
                  <a:schemeClr val="bg1"/>
                </a:solidFill>
              </a:rPr>
              <a:t>Product prices frequently change due to discounts, sales, and demand. Users often miss the </a:t>
            </a:r>
            <a:r>
              <a:rPr lang="en-IN" b="1" dirty="0">
                <a:solidFill>
                  <a:schemeClr val="bg1"/>
                </a:solidFill>
              </a:rPr>
              <a:t>best time to purchase</a:t>
            </a:r>
            <a:r>
              <a:rPr lang="en-IN" dirty="0">
                <a:solidFill>
                  <a:schemeClr val="bg1"/>
                </a:solidFill>
              </a:rPr>
              <a:t>.</a:t>
            </a:r>
          </a:p>
          <a:p>
            <a:pPr marL="342900" indent="-342900" algn="l">
              <a:buClr>
                <a:schemeClr val="bg1"/>
              </a:buClr>
              <a:buFont typeface="Arial" panose="020B0604020202020204" pitchFamily="34" charset="0"/>
              <a:buChar char="•"/>
            </a:pPr>
            <a:r>
              <a:rPr lang="en-IN" dirty="0">
                <a:solidFill>
                  <a:schemeClr val="bg1"/>
                </a:solidFill>
              </a:rPr>
              <a:t>The proposed system collects product information like price, platform, and product details from multiple platforms and presents it in a single unified interface.</a:t>
            </a:r>
          </a:p>
          <a:p>
            <a:pPr marL="342900" indent="-342900" algn="l">
              <a:buClr>
                <a:schemeClr val="bg1"/>
              </a:buClr>
              <a:buFont typeface="Arial" panose="020B0604020202020204" pitchFamily="34" charset="0"/>
              <a:buChar char="•"/>
            </a:pPr>
            <a:r>
              <a:rPr lang="en-IN" dirty="0">
                <a:solidFill>
                  <a:schemeClr val="bg1"/>
                </a:solidFill>
              </a:rPr>
              <a:t>Using historical price data, the system can apply </a:t>
            </a:r>
            <a:r>
              <a:rPr lang="en-IN" b="1" dirty="0">
                <a:solidFill>
                  <a:schemeClr val="bg1"/>
                </a:solidFill>
              </a:rPr>
              <a:t>forecasting algorithms </a:t>
            </a:r>
            <a:r>
              <a:rPr lang="en-IN" dirty="0">
                <a:solidFill>
                  <a:schemeClr val="bg1"/>
                </a:solidFill>
              </a:rPr>
              <a:t>to estimate future price trends.</a:t>
            </a:r>
          </a:p>
          <a:p>
            <a:pPr marL="342900" indent="-342900" algn="l">
              <a:buClr>
                <a:schemeClr val="bg1"/>
              </a:buClr>
              <a:buFont typeface="Arial" panose="020B0604020202020204" pitchFamily="34" charset="0"/>
              <a:buChar char="•"/>
            </a:pPr>
            <a:r>
              <a:rPr lang="en-IN" dirty="0">
                <a:solidFill>
                  <a:schemeClr val="bg1"/>
                </a:solidFill>
              </a:rPr>
              <a:t>PriceSlice is a </a:t>
            </a:r>
            <a:r>
              <a:rPr lang="en-IN" b="1" dirty="0">
                <a:solidFill>
                  <a:schemeClr val="bg1"/>
                </a:solidFill>
              </a:rPr>
              <a:t>smart price tracking system </a:t>
            </a:r>
            <a:r>
              <a:rPr lang="en-IN" dirty="0">
                <a:solidFill>
                  <a:schemeClr val="bg1"/>
                </a:solidFill>
              </a:rPr>
              <a:t>that helps users compare product prices across different platforms.</a:t>
            </a:r>
          </a:p>
          <a:p>
            <a:pPr marL="342900" indent="-342900" algn="l">
              <a:buClr>
                <a:schemeClr val="bg1"/>
              </a:buClr>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416446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599"/>
            <a:ext cx="9716656" cy="4183709"/>
          </a:xfrm>
        </p:spPr>
        <p:txBody>
          <a:bodyPr>
            <a:normAutofit fontScale="85000" lnSpcReduction="20000"/>
          </a:bodyPr>
          <a:lstStyle/>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Online shopping platforms are rapidly increasing, and thousands of products are available across different websites.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proposed system collects price information from multiple platforms and presents it in a single unified interface.</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system uses APIs to gather product information like price, platform, and product details.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system stores previous price records and generates price history charts to help users understand product price patterns.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collected prices are stored in a database so the system can track past price changes and trends.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Using historical price data, the system can apply forecasting algorithms to estimate future price trends.</a:t>
            </a:r>
          </a:p>
        </p:txBody>
      </p:sp>
    </p:spTree>
    <p:extLst>
      <p:ext uri="{BB962C8B-B14F-4D97-AF65-F5344CB8AC3E}">
        <p14:creationId xmlns:p14="http://schemas.microsoft.com/office/powerpoint/2010/main" val="332110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3"/>
          <p:cNvGraphicFramePr>
            <a:graphicFrameLocks noGrp="1"/>
          </p:cNvGraphicFramePr>
          <p:nvPr>
            <p:extLst>
              <p:ext uri="{D42A27DB-BD31-4B8C-83A1-F6EECF244321}">
                <p14:modId xmlns:p14="http://schemas.microsoft.com/office/powerpoint/2010/main" val="2589592260"/>
              </p:ext>
            </p:extLst>
          </p:nvPr>
        </p:nvGraphicFramePr>
        <p:xfrm>
          <a:off x="864078" y="1479299"/>
          <a:ext cx="10463841" cy="4968845"/>
        </p:xfrm>
        <a:graphic>
          <a:graphicData uri="http://schemas.openxmlformats.org/drawingml/2006/table">
            <a:tbl>
              <a:tblPr firstRow="1" bandRow="1">
                <a:tableStyleId>{073A0DAA-6AF3-43AB-8588-CEC1D06C72B9}</a:tableStyleId>
              </a:tblPr>
              <a:tblGrid>
                <a:gridCol w="637366">
                  <a:extLst>
                    <a:ext uri="{9D8B030D-6E8A-4147-A177-3AD203B41FA5}">
                      <a16:colId xmlns:a16="http://schemas.microsoft.com/office/drawing/2014/main" val="20000"/>
                    </a:ext>
                  </a:extLst>
                </a:gridCol>
                <a:gridCol w="2693457">
                  <a:extLst>
                    <a:ext uri="{9D8B030D-6E8A-4147-A177-3AD203B41FA5}">
                      <a16:colId xmlns:a16="http://schemas.microsoft.com/office/drawing/2014/main" val="20001"/>
                    </a:ext>
                  </a:extLst>
                </a:gridCol>
                <a:gridCol w="2830961">
                  <a:extLst>
                    <a:ext uri="{9D8B030D-6E8A-4147-A177-3AD203B41FA5}">
                      <a16:colId xmlns:a16="http://schemas.microsoft.com/office/drawing/2014/main" val="20002"/>
                    </a:ext>
                  </a:extLst>
                </a:gridCol>
                <a:gridCol w="1733279">
                  <a:extLst>
                    <a:ext uri="{9D8B030D-6E8A-4147-A177-3AD203B41FA5}">
                      <a16:colId xmlns:a16="http://schemas.microsoft.com/office/drawing/2014/main" val="20003"/>
                    </a:ext>
                  </a:extLst>
                </a:gridCol>
                <a:gridCol w="2568778">
                  <a:extLst>
                    <a:ext uri="{9D8B030D-6E8A-4147-A177-3AD203B41FA5}">
                      <a16:colId xmlns:a16="http://schemas.microsoft.com/office/drawing/2014/main" val="20004"/>
                    </a:ext>
                  </a:extLst>
                </a:gridCol>
              </a:tblGrid>
              <a:tr h="838805">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563135">
                <a:tc>
                  <a:txBody>
                    <a:bodyPr/>
                    <a:lstStyle/>
                    <a:p>
                      <a:r>
                        <a:rPr lang="en-IN" sz="1100" dirty="0">
                          <a:latin typeface="Times New Roman" panose="02020603050405020304" pitchFamily="18" charset="0"/>
                          <a:cs typeface="Times New Roman" panose="02020603050405020304" pitchFamily="18" charset="0"/>
                        </a:rPr>
                        <a:t>1</a:t>
                      </a:r>
                    </a:p>
                  </a:txBody>
                  <a:tcPr/>
                </a:tc>
                <a:tc>
                  <a:txBody>
                    <a:bodyPr/>
                    <a:lstStyle/>
                    <a:p>
                      <a:r>
                        <a:rPr lang="en-US" sz="1100" dirty="0"/>
                        <a:t>Price Comparison Application for E-Commerce Using Web Scraping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D. Tejaswi, K. </a:t>
                      </a:r>
                      <a:r>
                        <a:rPr lang="en-IN" sz="1100" dirty="0" err="1"/>
                        <a:t>Nikitha</a:t>
                      </a:r>
                      <a:r>
                        <a:rPr lang="en-IN" sz="1100" dirty="0"/>
                        <a:t>, M. Mounika, D. S. K. Harshitha, K. Sirisha</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Python, Web Scraping, Flask, </a:t>
                      </a:r>
                      <a:r>
                        <a:rPr lang="en-IN" sz="1100" dirty="0" err="1"/>
                        <a:t>Streamlit</a:t>
                      </a:r>
                      <a:r>
                        <a:rPr lang="en-IN" sz="1100" dirty="0"/>
                        <a:t>, SQLite Database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Enables real-time price comparison across multiple websites; centralized platform for users to compare product prices easily.</a:t>
                      </a:r>
                    </a:p>
                    <a:p>
                      <a:endParaRPr lang="en-US" sz="1100" dirty="0"/>
                    </a:p>
                    <a:p>
                      <a:r>
                        <a:rPr lang="en-IN" sz="1100" dirty="0">
                          <a:latin typeface="Times New Roman" panose="02020603050405020304" pitchFamily="18" charset="0"/>
                          <a:cs typeface="Times New Roman" panose="02020603050405020304" pitchFamily="18" charset="0"/>
                        </a:rPr>
                        <a:t>Disadvantage: </a:t>
                      </a:r>
                      <a:r>
                        <a:rPr lang="en-US" sz="1100" dirty="0"/>
                        <a:t>Depends on web scraping which may break when website structure changes; limited prediction or analytics capability.</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317942">
                <a:tc>
                  <a:txBody>
                    <a:bodyPr/>
                    <a:lstStyle/>
                    <a:p>
                      <a:r>
                        <a:rPr lang="en-IN" sz="1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Research on Real-time E-commerce Price Comparison System</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kern="1200" dirty="0">
                          <a:solidFill>
                            <a:schemeClr val="dk1"/>
                          </a:solidFill>
                          <a:latin typeface="+mn-lt"/>
                          <a:ea typeface="+mn-ea"/>
                          <a:cs typeface="+mn-cs"/>
                        </a:rPr>
                        <a:t>Fan Chen </a:t>
                      </a:r>
                      <a:r>
                        <a:rPr lang="en-US" sz="1100" dirty="0"/>
                        <a:t>(IJCSIT authors – research team from IJCSIT publication)</a:t>
                      </a:r>
                      <a:endParaRPr lang="en-IN" sz="1100" kern="1200" dirty="0">
                        <a:solidFill>
                          <a:schemeClr val="dk1"/>
                        </a:solidFill>
                        <a:latin typeface="+mn-lt"/>
                        <a:ea typeface="+mn-ea"/>
                        <a:cs typeface="+mn-cs"/>
                      </a:endParaRPr>
                    </a:p>
                  </a:txBody>
                  <a:tcPr/>
                </a:tc>
                <a:tc>
                  <a:txBody>
                    <a:bodyPr/>
                    <a:lstStyle/>
                    <a:p>
                      <a:r>
                        <a:rPr lang="en-US" sz="1100" dirty="0"/>
                        <a:t>Python-based Web Scraping, Data Processing, Price Comparison System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Provides real-time comparison of product prices; improves decision making for online buyers.</a:t>
                      </a:r>
                    </a:p>
                    <a:p>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 </a:t>
                      </a:r>
                      <a:r>
                        <a:rPr lang="en-US" sz="1100" dirty="0"/>
                        <a:t>Limited scalability and restricted to specific platforms; mainly focuses on price comparison rather than predictive analysis.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72744">
                <a:tc>
                  <a:txBody>
                    <a:bodyPr/>
                    <a:lstStyle/>
                    <a:p>
                      <a:r>
                        <a:rPr lang="en-IN" sz="11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E-commerce Price Comparison Website Using Web Scraping</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Arman Shaikh, Raihan Khan, Komal </a:t>
                      </a:r>
                      <a:r>
                        <a:rPr lang="en-IN" sz="1100" dirty="0" err="1"/>
                        <a:t>Panokher</a:t>
                      </a:r>
                      <a:r>
                        <a:rPr lang="en-IN" sz="1100" dirty="0"/>
                        <a:t>, </a:t>
                      </a:r>
                      <a:r>
                        <a:rPr lang="en-IN" sz="1100" dirty="0" err="1"/>
                        <a:t>Mritunjay</a:t>
                      </a:r>
                      <a:r>
                        <a:rPr lang="en-IN" sz="1100" dirty="0"/>
                        <a:t> K. Ranjan, Vaibhav </a:t>
                      </a:r>
                      <a:r>
                        <a:rPr lang="en-IN" sz="1100" dirty="0" err="1"/>
                        <a:t>Sonaje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Web Scraping, Python, Price Comparison Algorithms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Helps users find best deals quickly; saves time by comparing multiple stores automatically.</a:t>
                      </a:r>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 </a:t>
                      </a:r>
                      <a:r>
                        <a:rPr lang="en-US" sz="1100" dirty="0"/>
                        <a:t>Accuracy depends on scraping quality; lacks forecasting and advanced analytics features.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FDA493FD-6CAC-82F4-A981-CEAC1275D62D}"/>
              </a:ext>
            </a:extLst>
          </p:cNvPr>
          <p:cNvGraphicFramePr>
            <a:graphicFrameLocks noGrp="1"/>
          </p:cNvGraphicFramePr>
          <p:nvPr>
            <p:extLst>
              <p:ext uri="{D42A27DB-BD31-4B8C-83A1-F6EECF244321}">
                <p14:modId xmlns:p14="http://schemas.microsoft.com/office/powerpoint/2010/main" val="1668768341"/>
              </p:ext>
            </p:extLst>
          </p:nvPr>
        </p:nvGraphicFramePr>
        <p:xfrm>
          <a:off x="613913" y="1563814"/>
          <a:ext cx="10964174" cy="3730372"/>
        </p:xfrm>
        <a:graphic>
          <a:graphicData uri="http://schemas.openxmlformats.org/drawingml/2006/table">
            <a:tbl>
              <a:tblPr firstRow="1" bandRow="1">
                <a:tableStyleId>{073A0DAA-6AF3-43AB-8588-CEC1D06C72B9}</a:tableStyleId>
              </a:tblPr>
              <a:tblGrid>
                <a:gridCol w="833378">
                  <a:extLst>
                    <a:ext uri="{9D8B030D-6E8A-4147-A177-3AD203B41FA5}">
                      <a16:colId xmlns:a16="http://schemas.microsoft.com/office/drawing/2014/main" val="20000"/>
                    </a:ext>
                  </a:extLst>
                </a:gridCol>
                <a:gridCol w="2776873">
                  <a:extLst>
                    <a:ext uri="{9D8B030D-6E8A-4147-A177-3AD203B41FA5}">
                      <a16:colId xmlns:a16="http://schemas.microsoft.com/office/drawing/2014/main" val="20001"/>
                    </a:ext>
                  </a:extLst>
                </a:gridCol>
                <a:gridCol w="2918634">
                  <a:extLst>
                    <a:ext uri="{9D8B030D-6E8A-4147-A177-3AD203B41FA5}">
                      <a16:colId xmlns:a16="http://schemas.microsoft.com/office/drawing/2014/main" val="20002"/>
                    </a:ext>
                  </a:extLst>
                </a:gridCol>
                <a:gridCol w="1795605">
                  <a:extLst>
                    <a:ext uri="{9D8B030D-6E8A-4147-A177-3AD203B41FA5}">
                      <a16:colId xmlns:a16="http://schemas.microsoft.com/office/drawing/2014/main" val="20003"/>
                    </a:ext>
                  </a:extLst>
                </a:gridCol>
                <a:gridCol w="2639684">
                  <a:extLst>
                    <a:ext uri="{9D8B030D-6E8A-4147-A177-3AD203B41FA5}">
                      <a16:colId xmlns:a16="http://schemas.microsoft.com/office/drawing/2014/main" val="20004"/>
                    </a:ext>
                  </a:extLst>
                </a:gridCol>
              </a:tblGrid>
              <a:tr h="693238">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604574">
                <a:tc>
                  <a:txBody>
                    <a:bodyPr/>
                    <a:lstStyle/>
                    <a:p>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Predictive Modeling and Dynamic Analysis of Price Trends in eCommerce using ML Technique</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latin typeface="+mn-lt"/>
                          <a:ea typeface="+mn-ea"/>
                          <a:cs typeface="+mn-cs"/>
                        </a:rPr>
                        <a:t>Pallab Banerjee, Vishal Prasad, Kanika Thakur, </a:t>
                      </a:r>
                      <a:r>
                        <a:rPr lang="en-US" sz="1100" dirty="0"/>
                        <a:t>(IEEE / research authors on dynamic pricing models)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Machine Learning, Dynamic Pricing Models, RNN, LSTM, Gradient Optimization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Advantages: </a:t>
                      </a:r>
                      <a:r>
                        <a:rPr lang="en-US" sz="1100" dirty="0"/>
                        <a:t>Provides accurate prediction of price trends; improves decision making using ML-based forecasting.</a:t>
                      </a:r>
                    </a:p>
                    <a:p>
                      <a:endParaRPr lang="en-US" sz="1100" dirty="0"/>
                    </a:p>
                    <a:p>
                      <a:r>
                        <a:rPr lang="en-US" sz="1100" dirty="0">
                          <a:latin typeface="Times New Roman" panose="02020603050405020304" pitchFamily="18" charset="0"/>
                          <a:cs typeface="Times New Roman" panose="02020603050405020304" pitchFamily="18" charset="0"/>
                        </a:rPr>
                        <a:t>Disadvantages: </a:t>
                      </a:r>
                      <a:r>
                        <a:rPr lang="en-US" sz="1100" dirty="0"/>
                        <a:t>Requires large datasets and high computational resources; complex model training process.</a:t>
                      </a:r>
                      <a:endParaRPr lang="en-US"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4725831"/>
                  </a:ext>
                </a:extLst>
              </a:tr>
              <a:tr h="1299562">
                <a:tc>
                  <a:txBody>
                    <a:bodyPr/>
                    <a:lstStyle/>
                    <a:p>
                      <a:r>
                        <a:rPr lang="en-IN" sz="11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Dynamic Price Monitoring in E-commerce Leveraging Web Scraping, Data Analysis and Email Automation</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A. A. Patel, A. R Bhandare, A. S. Chauhan, S. V. </a:t>
                      </a:r>
                      <a:r>
                        <a:rPr lang="en-IN" sz="1100" dirty="0" err="1"/>
                        <a:t>Ghume</a:t>
                      </a:r>
                      <a:r>
                        <a:rPr lang="en-IN" sz="1100" dirty="0"/>
                        <a:t>, T. V. </a:t>
                      </a:r>
                      <a:r>
                        <a:rPr lang="en-IN" sz="1100" dirty="0" err="1"/>
                        <a:t>Rajarshi</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Web Scraping, Data Analysis, Automation Scripts, Email Notification System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Advantages: </a:t>
                      </a:r>
                      <a:r>
                        <a:rPr lang="en-US" sz="1100" dirty="0"/>
                        <a:t>Automatically tracks price changes and notifies users; useful for monitoring dynamic pricing.</a:t>
                      </a:r>
                      <a:endParaRPr lang="en-IN" sz="1100" dirty="0">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Disadvantages: </a:t>
                      </a:r>
                      <a:r>
                        <a:rPr lang="en-US" sz="1100" dirty="0"/>
                        <a:t>Requires continuous scraping infrastructure; scalability issues when monitoring large numbers of products.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70239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373626" y="1887795"/>
            <a:ext cx="6068737" cy="4139379"/>
          </a:xfrm>
        </p:spPr>
        <p:txBody>
          <a:bodyPr>
            <a:normAutofit lnSpcReduction="10000"/>
          </a:bodyPr>
          <a:lstStyle/>
          <a:p>
            <a:pPr marL="342900" indent="-342900" algn="l">
              <a:spcAft>
                <a:spcPts val="800"/>
              </a:spcAft>
              <a:buClr>
                <a:schemeClr val="bg1"/>
              </a:buClr>
              <a:buFont typeface="Arial" panose="020B0604020202020204" pitchFamily="34" charset="0"/>
              <a:buChar char="•"/>
            </a:pPr>
            <a:r>
              <a:rPr lang="en-IN" b="1" dirty="0">
                <a:solidFill>
                  <a:schemeClr val="bg1"/>
                </a:solidFill>
              </a:rPr>
              <a:t>Manual Price Comparison: </a:t>
            </a:r>
            <a:r>
              <a:rPr lang="en-IN" dirty="0">
                <a:solidFill>
                  <a:schemeClr val="bg1"/>
                </a:solidFill>
              </a:rPr>
              <a:t>Users usually visit multiple e-commerce websites and manually compare product prices.</a:t>
            </a:r>
          </a:p>
          <a:p>
            <a:pPr marL="342900" indent="-342900" algn="l">
              <a:spcAft>
                <a:spcPts val="800"/>
              </a:spcAft>
              <a:buClr>
                <a:schemeClr val="bg1"/>
              </a:buClr>
              <a:buFont typeface="Arial" panose="020B0604020202020204" pitchFamily="34" charset="0"/>
              <a:buChar char="•"/>
            </a:pPr>
            <a:r>
              <a:rPr lang="en-IN" b="1" dirty="0">
                <a:solidFill>
                  <a:schemeClr val="bg1"/>
                </a:solidFill>
              </a:rPr>
              <a:t>Basic Price Comparison Websites: </a:t>
            </a:r>
            <a:r>
              <a:rPr lang="en-IN" dirty="0">
                <a:solidFill>
                  <a:schemeClr val="bg1"/>
                </a:solidFill>
              </a:rPr>
              <a:t>Some websites only display current prices from different platforms but do not track price history.</a:t>
            </a:r>
          </a:p>
          <a:p>
            <a:pPr marL="342900" indent="-342900" algn="l">
              <a:spcAft>
                <a:spcPts val="800"/>
              </a:spcAft>
              <a:buClr>
                <a:schemeClr val="bg1"/>
              </a:buClr>
              <a:buFont typeface="Arial" panose="020B0604020202020204" pitchFamily="34" charset="0"/>
              <a:buChar char="•"/>
            </a:pPr>
            <a:r>
              <a:rPr lang="en-IN" b="1" dirty="0">
                <a:solidFill>
                  <a:schemeClr val="bg1"/>
                </a:solidFill>
              </a:rPr>
              <a:t>Limited Price Tracking Tools: </a:t>
            </a:r>
            <a:r>
              <a:rPr lang="en-IN" dirty="0">
                <a:solidFill>
                  <a:schemeClr val="bg1"/>
                </a:solidFill>
              </a:rPr>
              <a:t>Existing tools track prices for only specific platforms and provide limited analysis.</a:t>
            </a:r>
          </a:p>
          <a:p>
            <a:pPr marL="342900" indent="-342900" algn="l">
              <a:spcAft>
                <a:spcPts val="800"/>
              </a:spcAft>
              <a:buClr>
                <a:schemeClr val="bg1"/>
              </a:buClr>
              <a:buFont typeface="Arial" panose="020B0604020202020204" pitchFamily="34" charset="0"/>
              <a:buChar char="•"/>
            </a:pPr>
            <a:r>
              <a:rPr lang="en-IN" b="1" dirty="0">
                <a:solidFill>
                  <a:schemeClr val="bg1"/>
                </a:solidFill>
              </a:rPr>
              <a:t>Lack of Intelligent Prediction: </a:t>
            </a:r>
            <a:r>
              <a:rPr lang="en-IN" dirty="0">
                <a:solidFill>
                  <a:schemeClr val="bg1"/>
                </a:solidFill>
              </a:rPr>
              <a:t>Most systems do not analyze historical data or predict future price trends.</a:t>
            </a:r>
          </a:p>
        </p:txBody>
      </p:sp>
      <p:pic>
        <p:nvPicPr>
          <p:cNvPr id="4" name="Picture 3" descr="A person and person standing next to a large computer&#10;&#10;AI-generated content may be incorrect.">
            <a:extLst>
              <a:ext uri="{FF2B5EF4-FFF2-40B4-BE49-F238E27FC236}">
                <a16:creationId xmlns:a16="http://schemas.microsoft.com/office/drawing/2014/main" id="{79C1733E-752E-6DB7-C4F6-67FC70F0B7DC}"/>
              </a:ext>
            </a:extLst>
          </p:cNvPr>
          <p:cNvPicPr>
            <a:picLocks noChangeAspect="1"/>
          </p:cNvPicPr>
          <p:nvPr/>
        </p:nvPicPr>
        <p:blipFill>
          <a:blip r:embed="rId2"/>
          <a:stretch>
            <a:fillRect/>
          </a:stretch>
        </p:blipFill>
        <p:spPr>
          <a:xfrm>
            <a:off x="6580909" y="1997066"/>
            <a:ext cx="5611091" cy="34754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358188"/>
            <a:ext cx="8991600" cy="3696247"/>
          </a:xfrm>
        </p:spPr>
        <p:txBody>
          <a:bodyPr>
            <a:normAutofit fontScale="70000" lnSpcReduction="20000"/>
          </a:bodyPr>
          <a:lstStyle/>
          <a:p>
            <a:pPr algn="l"/>
            <a:r>
              <a:rPr lang="en-US" sz="2800" dirty="0">
                <a:solidFill>
                  <a:schemeClr val="bg1"/>
                </a:solidFill>
              </a:rPr>
              <a:t>The objectives of the proposed system include the following:-	</a:t>
            </a:r>
          </a:p>
          <a:p>
            <a:pPr algn="l"/>
            <a:endParaRPr lang="en-IN" sz="2400" dirty="0">
              <a:solidFill>
                <a:schemeClr val="bg1"/>
              </a:solidFill>
            </a:endParaRPr>
          </a:p>
          <a:p>
            <a:pPr marL="514350" indent="-514350" algn="l">
              <a:lnSpc>
                <a:spcPct val="107000"/>
              </a:lnSpc>
              <a:spcAft>
                <a:spcPts val="800"/>
              </a:spcAft>
              <a:buClr>
                <a:schemeClr val="bg1"/>
              </a:buClr>
              <a:buFont typeface="+mj-lt"/>
              <a:buAutoNum type="arabicPeriod"/>
            </a:pPr>
            <a:r>
              <a:rPr lang="en-IN" sz="2800" dirty="0">
                <a:solidFill>
                  <a:schemeClr val="bg1"/>
                </a:solidFill>
              </a:rPr>
              <a:t>To collect product price data from multiple e-commerce platforms using APIs.</a:t>
            </a:r>
          </a:p>
          <a:p>
            <a:pPr marL="514350" indent="-514350" algn="l">
              <a:lnSpc>
                <a:spcPct val="107000"/>
              </a:lnSpc>
              <a:spcAft>
                <a:spcPts val="800"/>
              </a:spcAft>
              <a:buClr>
                <a:schemeClr val="bg1"/>
              </a:buClr>
              <a:buFont typeface="+mj-lt"/>
              <a:buAutoNum type="arabicPeriod"/>
            </a:pPr>
            <a:r>
              <a:rPr lang="en-IN" sz="2800" dirty="0">
                <a:solidFill>
                  <a:schemeClr val="bg1"/>
                </a:solidFill>
              </a:rPr>
              <a:t>To store historical price data in a database for further analysis.</a:t>
            </a:r>
          </a:p>
          <a:p>
            <a:pPr marL="514350" indent="-514350" algn="l">
              <a:lnSpc>
                <a:spcPct val="107000"/>
              </a:lnSpc>
              <a:spcAft>
                <a:spcPts val="800"/>
              </a:spcAft>
              <a:buClr>
                <a:schemeClr val="bg1"/>
              </a:buClr>
              <a:buFont typeface="+mj-lt"/>
              <a:buAutoNum type="arabicPeriod"/>
            </a:pPr>
            <a:r>
              <a:rPr lang="en-IN" sz="2800" dirty="0">
                <a:solidFill>
                  <a:schemeClr val="bg1"/>
                </a:solidFill>
              </a:rPr>
              <a:t>To track and visualize product price changes over time using </a:t>
            </a:r>
            <a:r>
              <a:rPr lang="en-IN" sz="2800">
                <a:solidFill>
                  <a:schemeClr val="bg1"/>
                </a:solidFill>
              </a:rPr>
              <a:t>price history.</a:t>
            </a:r>
            <a:endParaRPr lang="en-IN" sz="2800" dirty="0">
              <a:solidFill>
                <a:schemeClr val="bg1"/>
              </a:solidFill>
            </a:endParaRPr>
          </a:p>
          <a:p>
            <a:pPr marL="514350" indent="-514350" algn="l">
              <a:lnSpc>
                <a:spcPct val="107000"/>
              </a:lnSpc>
              <a:spcAft>
                <a:spcPts val="800"/>
              </a:spcAft>
              <a:buClr>
                <a:schemeClr val="bg1"/>
              </a:buClr>
              <a:buFont typeface="+mj-lt"/>
              <a:buAutoNum type="arabicPeriod"/>
            </a:pPr>
            <a:r>
              <a:rPr lang="en-IN" sz="2800" dirty="0">
                <a:solidFill>
                  <a:schemeClr val="bg1"/>
                </a:solidFill>
              </a:rPr>
              <a:t>To apply forecasting algorithms on historical price data to predict future price trends.</a:t>
            </a:r>
          </a:p>
          <a:p>
            <a:pPr marL="514350" indent="-514350" algn="l">
              <a:lnSpc>
                <a:spcPct val="107000"/>
              </a:lnSpc>
              <a:spcAft>
                <a:spcPts val="800"/>
              </a:spcAft>
              <a:buClr>
                <a:schemeClr val="bg1"/>
              </a:buClr>
              <a:buFont typeface="+mj-lt"/>
              <a:buAutoNum type="arabicPeriod"/>
            </a:pPr>
            <a:r>
              <a:rPr lang="en-IN" sz="2800" dirty="0">
                <a:solidFill>
                  <a:schemeClr val="bg1"/>
                </a:solidFill>
              </a:rPr>
              <a:t>To help users make better purchasing decisions by identifying the best time to buy a product.</a:t>
            </a:r>
          </a:p>
        </p:txBody>
      </p:sp>
    </p:spTree>
    <p:extLst>
      <p:ext uri="{BB962C8B-B14F-4D97-AF65-F5344CB8AC3E}">
        <p14:creationId xmlns:p14="http://schemas.microsoft.com/office/powerpoint/2010/main" val="2071131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00200" y="2329314"/>
            <a:ext cx="9635836" cy="3715351"/>
          </a:xfrm>
        </p:spPr>
        <p:txBody>
          <a:bodyPr>
            <a:normAutofit fontScale="55000" lnSpcReduction="20000"/>
          </a:bodyPr>
          <a:lstStyle/>
          <a:p>
            <a:pPr algn="l"/>
            <a:r>
              <a:rPr lang="en-US" sz="4500" dirty="0">
                <a:solidFill>
                  <a:schemeClr val="bg1"/>
                </a:solidFill>
              </a:rPr>
              <a:t>Below are the software requirements for application development:</a:t>
            </a:r>
          </a:p>
          <a:p>
            <a:pPr algn="l"/>
            <a:endParaRPr lang="en-US" sz="4500" dirty="0">
              <a:solidFill>
                <a:schemeClr val="bg1"/>
              </a:solidFill>
            </a:endParaRPr>
          </a:p>
          <a:p>
            <a:pPr marL="457200" indent="-457200" algn="l">
              <a:buFont typeface="Arial" panose="020B0604020202020204" pitchFamily="34" charset="0"/>
              <a:buAutoNum type="arabicPeriod"/>
            </a:pPr>
            <a:r>
              <a:rPr lang="en-US" sz="4400" dirty="0">
                <a:solidFill>
                  <a:schemeClr val="bg1"/>
                </a:solidFill>
              </a:rPr>
              <a:t>1.   Python IDE (VSCode)</a:t>
            </a:r>
          </a:p>
          <a:p>
            <a:pPr marL="457200" indent="-457200" algn="l">
              <a:buFont typeface="Arial" panose="020B0604020202020204" pitchFamily="34" charset="0"/>
              <a:buAutoNum type="arabicPeriod"/>
            </a:pPr>
            <a:r>
              <a:rPr lang="en-US" sz="4400" dirty="0">
                <a:solidFill>
                  <a:schemeClr val="bg1"/>
                </a:solidFill>
              </a:rPr>
              <a:t>2.	MongoDB (for storing price history data)</a:t>
            </a:r>
          </a:p>
          <a:p>
            <a:pPr marL="457200" indent="-457200" algn="l">
              <a:buFont typeface="Arial" panose="020B0604020202020204" pitchFamily="34" charset="0"/>
              <a:buAutoNum type="arabicPeriod"/>
            </a:pPr>
            <a:r>
              <a:rPr lang="en-US" sz="4400" dirty="0">
                <a:solidFill>
                  <a:schemeClr val="bg1"/>
                </a:solidFill>
              </a:rPr>
              <a:t>3.	</a:t>
            </a:r>
            <a:r>
              <a:rPr lang="en-IN" sz="4400" dirty="0">
                <a:solidFill>
                  <a:schemeClr val="bg1"/>
                </a:solidFill>
              </a:rPr>
              <a:t>Git / GitHub</a:t>
            </a:r>
            <a:endParaRPr lang="en-US" sz="4400" dirty="0">
              <a:solidFill>
                <a:schemeClr val="bg1"/>
              </a:solidFill>
            </a:endParaRPr>
          </a:p>
          <a:p>
            <a:pPr marL="457200" indent="-457200" algn="l">
              <a:buFont typeface="Arial" panose="020B0604020202020204" pitchFamily="34" charset="0"/>
              <a:buAutoNum type="arabicPeriod"/>
            </a:pPr>
            <a:r>
              <a:rPr lang="en-US" sz="4400" dirty="0">
                <a:solidFill>
                  <a:schemeClr val="bg1"/>
                </a:solidFill>
              </a:rPr>
              <a:t>4.	SerpAPI (to fetch product price data from e-commerce platforms)</a:t>
            </a:r>
          </a:p>
          <a:p>
            <a:pPr marL="457200" indent="-457200" algn="l">
              <a:buFont typeface="Arial" panose="020B0604020202020204" pitchFamily="34" charset="0"/>
              <a:buAutoNum type="arabicPeriod"/>
            </a:pPr>
            <a:r>
              <a:rPr lang="en-US" sz="4400" dirty="0">
                <a:solidFill>
                  <a:schemeClr val="bg1"/>
                </a:solidFill>
              </a:rPr>
              <a:t>5.	Chart.js or other chart libraries (for displaying price history graphs)</a:t>
            </a:r>
          </a:p>
          <a:p>
            <a:pPr marL="457200" indent="-457200" algn="l">
              <a:buFont typeface="Arial" panose="020B0604020202020204" pitchFamily="34" charset="0"/>
              <a:buAutoNum type="arabicPeriod"/>
            </a:pPr>
            <a:r>
              <a:rPr lang="en-US" sz="4400" dirty="0">
                <a:solidFill>
                  <a:schemeClr val="bg1"/>
                </a:solidFill>
              </a:rPr>
              <a:t>6.	</a:t>
            </a:r>
            <a:r>
              <a:rPr lang="en-IN" sz="4400" dirty="0">
                <a:solidFill>
                  <a:schemeClr val="bg1"/>
                </a:solidFill>
              </a:rPr>
              <a:t>React.js</a:t>
            </a:r>
            <a:endParaRPr lang="en-US" sz="4400" dirty="0">
              <a:solidFill>
                <a:schemeClr val="bg1"/>
              </a:solidFill>
            </a:endParaRPr>
          </a:p>
        </p:txBody>
      </p:sp>
    </p:spTree>
    <p:extLst>
      <p:ext uri="{BB962C8B-B14F-4D97-AF65-F5344CB8AC3E}">
        <p14:creationId xmlns:p14="http://schemas.microsoft.com/office/powerpoint/2010/main" val="1618906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normAutofit lnSpcReduction="10000"/>
          </a:bodyPr>
          <a:lstStyle/>
          <a:p>
            <a:pPr algn="l"/>
            <a:r>
              <a:rPr lang="en-US" sz="3200" dirty="0">
                <a:solidFill>
                  <a:schemeClr val="bg1"/>
                </a:solidFill>
              </a:rPr>
              <a:t>Hardware requirements for application development are as follows:</a:t>
            </a:r>
          </a:p>
          <a:p>
            <a:pPr marL="457200" indent="-457200" algn="l">
              <a:buAutoNum type="arabicPeriod"/>
            </a:pPr>
            <a:r>
              <a:rPr lang="en-US" sz="2800" dirty="0">
                <a:solidFill>
                  <a:schemeClr val="bg1"/>
                </a:solidFill>
              </a:rPr>
              <a:t>1.	CPU - intel i3 or higher</a:t>
            </a:r>
          </a:p>
          <a:p>
            <a:pPr marL="457200" indent="-457200" algn="l">
              <a:buAutoNum type="arabicPeriod"/>
            </a:pPr>
            <a:r>
              <a:rPr lang="en-US" sz="2800" dirty="0">
                <a:solidFill>
                  <a:schemeClr val="bg1"/>
                </a:solidFill>
              </a:rPr>
              <a:t>2.	RAM – 4 GB or higher</a:t>
            </a:r>
          </a:p>
          <a:p>
            <a:pPr marL="457200" indent="-457200" algn="l">
              <a:buAutoNum type="arabicPeriod"/>
            </a:pPr>
            <a:r>
              <a:rPr lang="en-US" sz="2800" dirty="0">
                <a:solidFill>
                  <a:schemeClr val="bg1"/>
                </a:solidFill>
              </a:rPr>
              <a:t>3.	Storage – 10 GB or higher</a:t>
            </a:r>
          </a:p>
          <a:p>
            <a:pPr marL="457200" indent="-457200" algn="l">
              <a:buAutoNum type="arabicPeriod"/>
            </a:pPr>
            <a:r>
              <a:rPr lang="en-US" sz="2800" dirty="0">
                <a:solidFill>
                  <a:schemeClr val="bg1"/>
                </a:solidFill>
              </a:rPr>
              <a:t>4.	OS - windows 10 or higher</a:t>
            </a:r>
            <a:endParaRPr lang="en-IN" sz="28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371600" y="1867301"/>
            <a:ext cx="9351818" cy="3970318"/>
          </a:xfrm>
          <a:prstGeom prst="rect">
            <a:avLst/>
          </a:prstGeom>
          <a:noFill/>
        </p:spPr>
        <p:txBody>
          <a:bodyPr wrap="square">
            <a:spAutoFit/>
          </a:bodyPr>
          <a:lstStyle/>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Product Search Function: </a:t>
            </a:r>
            <a:r>
              <a:rPr lang="en-IN" sz="2400" dirty="0">
                <a:solidFill>
                  <a:schemeClr val="bg1"/>
                </a:solidFill>
              </a:rPr>
              <a:t>The system should allow users to search for products using keywords.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Data Collection: </a:t>
            </a:r>
            <a:r>
              <a:rPr lang="en-IN" sz="2400" dirty="0">
                <a:solidFill>
                  <a:schemeClr val="bg1"/>
                </a:solidFill>
              </a:rPr>
              <a:t>The system should retrieve product price information from e-commerce platforms using APIs.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History Storage: </a:t>
            </a:r>
            <a:r>
              <a:rPr lang="en-IN" sz="2400" dirty="0">
                <a:solidFill>
                  <a:schemeClr val="bg1"/>
                </a:solidFill>
              </a:rPr>
              <a:t>The system should store historical price data in a database for future analysis.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Trend Visualization:</a:t>
            </a:r>
            <a:r>
              <a:rPr lang="en-IN" sz="2400" dirty="0">
                <a:solidFill>
                  <a:schemeClr val="bg1"/>
                </a:solidFill>
              </a:rPr>
              <a:t> The system should display price history through charts or graphs.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Forecasting: </a:t>
            </a:r>
            <a:r>
              <a:rPr lang="en-IN" sz="2400" dirty="0">
                <a:solidFill>
                  <a:schemeClr val="bg1"/>
                </a:solidFill>
              </a:rPr>
              <a:t>The system should analyze historical price data and predict future price trends.</a:t>
            </a:r>
          </a:p>
        </p:txBody>
      </p:sp>
    </p:spTree>
    <p:extLst>
      <p:ext uri="{BB962C8B-B14F-4D97-AF65-F5344CB8AC3E}">
        <p14:creationId xmlns:p14="http://schemas.microsoft.com/office/powerpoint/2010/main" val="341222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fontScale="92500"/>
          </a:bodyPr>
          <a:lstStyle/>
          <a:p>
            <a:pPr marL="457200" indent="-457200" algn="l">
              <a:lnSpc>
                <a:spcPct val="80000"/>
              </a:lnSpc>
              <a:spcAft>
                <a:spcPts val="800"/>
              </a:spcAft>
              <a:buClr>
                <a:schemeClr val="bg1"/>
              </a:buClr>
              <a:buFont typeface="+mj-lt"/>
              <a:buAutoNum type="arabicPeriod"/>
            </a:pPr>
            <a:r>
              <a:rPr lang="en-IN" sz="2400" b="1" dirty="0">
                <a:solidFill>
                  <a:schemeClr val="bg1"/>
                </a:solidFill>
              </a:rPr>
              <a:t>Performance: </a:t>
            </a:r>
            <a:r>
              <a:rPr lang="en-IN" sz="2400" dirty="0">
                <a:solidFill>
                  <a:schemeClr val="bg1"/>
                </a:solidFill>
              </a:rPr>
              <a:t>The system should respond quickly when users search for products or view price data.</a:t>
            </a:r>
          </a:p>
          <a:p>
            <a:pPr marL="457200" indent="-457200" algn="l">
              <a:lnSpc>
                <a:spcPct val="80000"/>
              </a:lnSpc>
              <a:spcAft>
                <a:spcPts val="800"/>
              </a:spcAft>
              <a:buClr>
                <a:schemeClr val="bg1"/>
              </a:buClr>
              <a:buFont typeface="+mj-lt"/>
              <a:buAutoNum type="arabicPeriod"/>
            </a:pPr>
            <a:r>
              <a:rPr lang="en-IN" sz="2400" b="1" dirty="0">
                <a:solidFill>
                  <a:schemeClr val="bg1"/>
                </a:solidFill>
              </a:rPr>
              <a:t>Scalability:</a:t>
            </a:r>
            <a:r>
              <a:rPr lang="en-IN" sz="2400" dirty="0">
                <a:solidFill>
                  <a:schemeClr val="bg1"/>
                </a:solidFill>
              </a:rPr>
              <a:t> The system should handle increasing numbers of products and price records.</a:t>
            </a:r>
          </a:p>
          <a:p>
            <a:pPr marL="457200" indent="-457200" algn="l">
              <a:lnSpc>
                <a:spcPct val="80000"/>
              </a:lnSpc>
              <a:spcAft>
                <a:spcPts val="800"/>
              </a:spcAft>
              <a:buClr>
                <a:schemeClr val="bg1"/>
              </a:buClr>
              <a:buFont typeface="+mj-lt"/>
              <a:buAutoNum type="arabicPeriod"/>
            </a:pPr>
            <a:r>
              <a:rPr lang="en-IN" sz="2400" b="1" dirty="0">
                <a:solidFill>
                  <a:schemeClr val="bg1"/>
                </a:solidFill>
              </a:rPr>
              <a:t>Reliability: </a:t>
            </a:r>
            <a:r>
              <a:rPr lang="en-IN" sz="2400" dirty="0">
                <a:solidFill>
                  <a:schemeClr val="bg1"/>
                </a:solidFill>
              </a:rPr>
              <a:t>The system should consistently fetch and display accurate product price data.</a:t>
            </a:r>
          </a:p>
          <a:p>
            <a:pPr marL="457200" indent="-457200" algn="l">
              <a:lnSpc>
                <a:spcPct val="80000"/>
              </a:lnSpc>
              <a:spcAft>
                <a:spcPts val="800"/>
              </a:spcAft>
              <a:buClr>
                <a:schemeClr val="bg1"/>
              </a:buClr>
              <a:buFont typeface="+mj-lt"/>
              <a:buAutoNum type="arabicPeriod"/>
            </a:pPr>
            <a:r>
              <a:rPr lang="en-IN" sz="2400" b="1" dirty="0">
                <a:solidFill>
                  <a:schemeClr val="bg1"/>
                </a:solidFill>
              </a:rPr>
              <a:t>Security: </a:t>
            </a:r>
            <a:r>
              <a:rPr lang="en-IN" sz="2400" dirty="0">
                <a:solidFill>
                  <a:schemeClr val="bg1"/>
                </a:solidFill>
              </a:rPr>
              <a:t>The system should protect stored data and prevent unauthorized access.</a:t>
            </a:r>
          </a:p>
          <a:p>
            <a:pPr marL="457200" indent="-457200" algn="l">
              <a:lnSpc>
                <a:spcPct val="80000"/>
              </a:lnSpc>
              <a:spcAft>
                <a:spcPts val="800"/>
              </a:spcAft>
              <a:buClr>
                <a:schemeClr val="bg1"/>
              </a:buClr>
              <a:buFont typeface="+mj-lt"/>
              <a:buAutoNum type="arabicPeriod"/>
            </a:pPr>
            <a:r>
              <a:rPr lang="en-IN" sz="2400" b="1" dirty="0">
                <a:solidFill>
                  <a:schemeClr val="bg1"/>
                </a:solidFill>
              </a:rPr>
              <a:t>Usability: </a:t>
            </a:r>
            <a:r>
              <a:rPr lang="en-IN" sz="2400" dirty="0">
                <a:solidFill>
                  <a:schemeClr val="bg1"/>
                </a:solidFill>
              </a:rPr>
              <a:t>The system interface should be simple and easy for users to understand.</a:t>
            </a:r>
          </a:p>
        </p:txBody>
      </p:sp>
    </p:spTree>
    <p:extLst>
      <p:ext uri="{BB962C8B-B14F-4D97-AF65-F5344CB8AC3E}">
        <p14:creationId xmlns:p14="http://schemas.microsoft.com/office/powerpoint/2010/main" val="2994999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System Architecture</a:t>
            </a:r>
            <a:endParaRPr lang="en-IN" dirty="0"/>
          </a:p>
        </p:txBody>
      </p:sp>
      <p:pic>
        <p:nvPicPr>
          <p:cNvPr id="7" name="Picture 6" descr="A diagram of a system&#10;&#10;AI-generated content may be incorrect.">
            <a:extLst>
              <a:ext uri="{FF2B5EF4-FFF2-40B4-BE49-F238E27FC236}">
                <a16:creationId xmlns:a16="http://schemas.microsoft.com/office/drawing/2014/main" id="{16FA4CBF-E700-C31F-7477-591317B656D2}"/>
              </a:ext>
            </a:extLst>
          </p:cNvPr>
          <p:cNvPicPr>
            <a:picLocks noChangeAspect="1"/>
          </p:cNvPicPr>
          <p:nvPr/>
        </p:nvPicPr>
        <p:blipFill>
          <a:blip r:embed="rId2"/>
          <a:stretch>
            <a:fillRect/>
          </a:stretch>
        </p:blipFill>
        <p:spPr>
          <a:xfrm>
            <a:off x="1291376" y="1496067"/>
            <a:ext cx="9628909" cy="5136720"/>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12A1-D91A-9567-F858-18F8FD227B5A}"/>
              </a:ext>
            </a:extLst>
          </p:cNvPr>
          <p:cNvSpPr>
            <a:spLocks noGrp="1"/>
          </p:cNvSpPr>
          <p:nvPr>
            <p:ph type="ctrTitle"/>
          </p:nvPr>
        </p:nvSpPr>
        <p:spPr>
          <a:xfrm>
            <a:off x="1600200" y="380144"/>
            <a:ext cx="8991600" cy="999923"/>
          </a:xfrm>
        </p:spPr>
        <p:txBody>
          <a:bodyPr/>
          <a:lstStyle/>
          <a:p>
            <a:r>
              <a:rPr lang="en-IN" dirty="0" err="1"/>
              <a:t>Uml</a:t>
            </a:r>
            <a:r>
              <a:rPr lang="en-IN" dirty="0"/>
              <a:t> diagram</a:t>
            </a:r>
          </a:p>
        </p:txBody>
      </p:sp>
      <p:pic>
        <p:nvPicPr>
          <p:cNvPr id="6" name="Picture 5" descr="A diagram of a system&#10;&#10;AI-generated content may be incorrect.">
            <a:extLst>
              <a:ext uri="{FF2B5EF4-FFF2-40B4-BE49-F238E27FC236}">
                <a16:creationId xmlns:a16="http://schemas.microsoft.com/office/drawing/2014/main" id="{D0C27E27-3C7A-7161-F71C-2C1B80F7717B}"/>
              </a:ext>
            </a:extLst>
          </p:cNvPr>
          <p:cNvPicPr>
            <a:picLocks noChangeAspect="1"/>
          </p:cNvPicPr>
          <p:nvPr/>
        </p:nvPicPr>
        <p:blipFill>
          <a:blip r:embed="rId2"/>
          <a:stretch>
            <a:fillRect/>
          </a:stretch>
        </p:blipFill>
        <p:spPr>
          <a:xfrm>
            <a:off x="1039091" y="1565563"/>
            <a:ext cx="10086109" cy="5029202"/>
          </a:xfrm>
          <a:prstGeom prst="rect">
            <a:avLst/>
          </a:prstGeom>
        </p:spPr>
      </p:pic>
    </p:spTree>
    <p:extLst>
      <p:ext uri="{BB962C8B-B14F-4D97-AF65-F5344CB8AC3E}">
        <p14:creationId xmlns:p14="http://schemas.microsoft.com/office/powerpoint/2010/main" val="144506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9666-4762-8632-DE15-1C167596B785}"/>
              </a:ext>
            </a:extLst>
          </p:cNvPr>
          <p:cNvSpPr>
            <a:spLocks noGrp="1"/>
          </p:cNvSpPr>
          <p:nvPr>
            <p:ph type="ctrTitle"/>
          </p:nvPr>
        </p:nvSpPr>
        <p:spPr>
          <a:xfrm>
            <a:off x="1600200" y="414868"/>
            <a:ext cx="8991600" cy="999066"/>
          </a:xfrm>
        </p:spPr>
        <p:txBody>
          <a:bodyPr/>
          <a:lstStyle/>
          <a:p>
            <a:r>
              <a:rPr lang="en-IN" dirty="0"/>
              <a:t>Activity diagram</a:t>
            </a:r>
          </a:p>
        </p:txBody>
      </p:sp>
      <p:pic>
        <p:nvPicPr>
          <p:cNvPr id="6" name="Picture 5">
            <a:extLst>
              <a:ext uri="{FF2B5EF4-FFF2-40B4-BE49-F238E27FC236}">
                <a16:creationId xmlns:a16="http://schemas.microsoft.com/office/drawing/2014/main" id="{F366A913-02C5-6DF6-5760-2C5FA4E34BE9}"/>
              </a:ext>
            </a:extLst>
          </p:cNvPr>
          <p:cNvPicPr>
            <a:picLocks noChangeAspect="1"/>
          </p:cNvPicPr>
          <p:nvPr/>
        </p:nvPicPr>
        <p:blipFill>
          <a:blip r:embed="rId2"/>
          <a:stretch>
            <a:fillRect/>
          </a:stretch>
        </p:blipFill>
        <p:spPr>
          <a:xfrm>
            <a:off x="814106" y="1931541"/>
            <a:ext cx="10231278" cy="4324954"/>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347134"/>
            <a:ext cx="8991600" cy="1239894"/>
          </a:xfrm>
        </p:spPr>
        <p:txBody>
          <a:bodyPr/>
          <a:lstStyle/>
          <a:p>
            <a:r>
              <a:rPr lang="en-IN" dirty="0"/>
              <a:t>Module design</a:t>
            </a:r>
          </a:p>
        </p:txBody>
      </p:sp>
      <p:pic>
        <p:nvPicPr>
          <p:cNvPr id="4" name="Picture 3">
            <a:extLst>
              <a:ext uri="{FF2B5EF4-FFF2-40B4-BE49-F238E27FC236}">
                <a16:creationId xmlns:a16="http://schemas.microsoft.com/office/drawing/2014/main" id="{602559F6-7AB0-55BC-FD22-81F60119B610}"/>
              </a:ext>
            </a:extLst>
          </p:cNvPr>
          <p:cNvPicPr>
            <a:picLocks noChangeAspect="1"/>
          </p:cNvPicPr>
          <p:nvPr/>
        </p:nvPicPr>
        <p:blipFill>
          <a:blip r:embed="rId2"/>
          <a:stretch>
            <a:fillRect/>
          </a:stretch>
        </p:blipFill>
        <p:spPr>
          <a:xfrm>
            <a:off x="894624" y="2495419"/>
            <a:ext cx="10402752" cy="1867161"/>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1215</TotalTime>
  <Words>1272</Words>
  <Application>Microsoft Office PowerPoint</Application>
  <PresentationFormat>Widescreen</PresentationFormat>
  <Paragraphs>135</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Gill Sans MT</vt:lpstr>
      <vt:lpstr>Maven Pro Bold</vt:lpstr>
      <vt:lpstr>Times New Roman</vt:lpstr>
      <vt:lpstr>Wingdings</vt:lpstr>
      <vt:lpstr>Parcel</vt:lpstr>
      <vt:lpstr> PriceSlice – Product Price Tracking &amp; Forecasting System </vt:lpstr>
      <vt:lpstr>Table of contents</vt:lpstr>
      <vt:lpstr>ABSTRACT</vt:lpstr>
      <vt:lpstr>Introduction</vt:lpstr>
      <vt:lpstr>Proposed system</vt:lpstr>
      <vt:lpstr>Literature survey</vt:lpstr>
      <vt:lpstr>PowerPoint Presentation</vt:lpstr>
      <vt:lpstr>Existing system</vt:lpstr>
      <vt:lpstr>Objectives</vt:lpstr>
      <vt:lpstr>Software requirements</vt:lpstr>
      <vt:lpstr>Hardware requirements</vt:lpstr>
      <vt:lpstr>FUNCTIONAL  requirements</vt:lpstr>
      <vt:lpstr>Non - functional requirements</vt:lpstr>
      <vt:lpstr>System Architecture</vt:lpstr>
      <vt:lpstr>Uml diagram</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Rushank Chaudhari</cp:lastModifiedBy>
  <cp:revision>35</cp:revision>
  <dcterms:created xsi:type="dcterms:W3CDTF">2022-09-15T19:17:00Z</dcterms:created>
  <dcterms:modified xsi:type="dcterms:W3CDTF">2026-03-06T09:41:10Z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