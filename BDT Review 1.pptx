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58" r:id="rId4"/>
    <p:sldId id="257" r:id="rId5"/>
    <p:sldId id="275" r:id="rId6"/>
    <p:sldId id="276" r:id="rId7"/>
    <p:sldId id="277" r:id="rId8"/>
    <p:sldId id="268" r:id="rId9"/>
  </p:sldIdLst>
  <p:sldSz cx="18288000" cy="10287000"/>
  <p:notesSz cx="6858000" cy="9144000"/>
  <p:embeddedFontLst>
    <p:embeddedFont>
      <p:font typeface="Maven Pro" panose="020B0604020202020204" charset="0"/>
      <p:regular r:id="rId10"/>
    </p:embeddedFont>
    <p:embeddedFont>
      <p:font typeface="Maven Pro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iarjset.com/wp-content/uploads/2025/04/IARJSET.2025.12431.pdf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hyperlink" Target="https://www.ijraset.com/best-journal/dynamic-price-monitoring-in-ecommerce-leveraging-web-scraping-data-analysis-and-email-automation-for-dynamic-pricing-insight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ieeexplore.ieee.org/document/10774870" TargetMode="External"/><Relationship Id="rId5" Type="http://schemas.openxmlformats.org/officeDocument/2006/relationships/image" Target="../media/image4.svg"/><Relationship Id="rId10" Type="http://schemas.openxmlformats.org/officeDocument/2006/relationships/hyperlink" Target="https://ijcsmc.com/docs/papers/March2022/V11I3202227.pdf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epub.org/index.php/IJCSIT/article/view/408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5015" y="1919287"/>
            <a:ext cx="15135803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6000" b="1" dirty="0">
                <a:solidFill>
                  <a:srgbClr val="252D37"/>
                </a:solidFill>
                <a:latin typeface="Maven Pro Bold"/>
              </a:rPr>
              <a:t>PriceSlice – Product Price Tracking &amp; </a:t>
            </a:r>
            <a:r>
              <a:rPr lang="en-IN" sz="6000" b="1" dirty="0">
                <a:solidFill>
                  <a:srgbClr val="252D37"/>
                </a:solidFill>
                <a:latin typeface="Maven Pro Bold"/>
              </a:rPr>
              <a:t>Forecasting</a:t>
            </a:r>
            <a:r>
              <a:rPr lang="en-US" sz="6000" b="1" dirty="0">
                <a:solidFill>
                  <a:srgbClr val="252D37"/>
                </a:solidFill>
                <a:latin typeface="Maven Pro Bold"/>
              </a:rPr>
              <a:t> System</a:t>
            </a:r>
            <a:endParaRPr lang="en-US" sz="6000" b="1" dirty="0">
              <a:solidFill>
                <a:srgbClr val="252D37"/>
              </a:solidFill>
              <a:latin typeface="Maven Pro Bold"/>
              <a:sym typeface="Maven Pro Bold"/>
            </a:endParaRPr>
          </a:p>
        </p:txBody>
      </p:sp>
      <p:sp>
        <p:nvSpPr>
          <p:cNvPr id="3" name="Freeform 3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V="1">
            <a:off x="14297025" y="62960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0" y="8039083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7657548" y="293921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3745017" y="5497465"/>
            <a:ext cx="10864763" cy="372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IN" sz="3200" dirty="0">
                <a:latin typeface="Maven Pro" panose="020B0604020202020204" charset="0"/>
              </a:rPr>
              <a:t>Team - 6</a:t>
            </a:r>
          </a:p>
          <a:p>
            <a:pPr algn="ctr">
              <a:lnSpc>
                <a:spcPts val="4200"/>
              </a:lnSpc>
            </a:pPr>
            <a:endParaRPr lang="en-IN" sz="3200" dirty="0">
              <a:latin typeface="Maven Pro" panose="020B0604020202020204" charset="0"/>
            </a:endParaRPr>
          </a:p>
          <a:p>
            <a:pPr algn="just">
              <a:lnSpc>
                <a:spcPts val="4200"/>
              </a:lnSpc>
            </a:pPr>
            <a:r>
              <a:rPr lang="en-IN" sz="3200" dirty="0">
                <a:latin typeface="Maven Pro" panose="020B0604020202020204" charset="0"/>
              </a:rPr>
              <a:t>I.Siddartha – 2320030147</a:t>
            </a:r>
          </a:p>
          <a:p>
            <a:pPr algn="just">
              <a:lnSpc>
                <a:spcPts val="4200"/>
              </a:lnSpc>
            </a:pPr>
            <a:r>
              <a:rPr lang="en-IN" sz="3200" dirty="0">
                <a:latin typeface="Maven Pro" panose="020B0604020202020204" charset="0"/>
              </a:rPr>
              <a:t>Varun Paleru – 2320030233</a:t>
            </a:r>
          </a:p>
          <a:p>
            <a:pPr algn="just">
              <a:lnSpc>
                <a:spcPts val="4200"/>
              </a:lnSpc>
            </a:pPr>
            <a:r>
              <a:rPr lang="en-IN" sz="3200" dirty="0">
                <a:latin typeface="Maven Pro" panose="020B0604020202020204" charset="0"/>
              </a:rPr>
              <a:t>Rushank Chaudhari – 2320030105</a:t>
            </a:r>
          </a:p>
          <a:p>
            <a:pPr algn="just">
              <a:lnSpc>
                <a:spcPts val="4200"/>
              </a:lnSpc>
            </a:pPr>
            <a:endParaRPr lang="en-IN" sz="3200" dirty="0">
              <a:latin typeface="Maven Pro" panose="020B0604020202020204" charset="0"/>
            </a:endParaRPr>
          </a:p>
          <a:p>
            <a:pPr algn="just">
              <a:lnSpc>
                <a:spcPts val="4200"/>
              </a:lnSpc>
            </a:pPr>
            <a:endParaRPr lang="en-IN" sz="3200" dirty="0">
              <a:latin typeface="Maven Pro" panose="020B0604020202020204" charset="0"/>
            </a:endParaRPr>
          </a:p>
        </p:txBody>
      </p:sp>
      <p:sp>
        <p:nvSpPr>
          <p:cNvPr id="9" name="Freeform 9"/>
          <p:cNvSpPr/>
          <p:nvPr/>
        </p:nvSpPr>
        <p:spPr>
          <a:xfrm flipV="1">
            <a:off x="14542983" y="-104775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1358159"/>
                </a:moveTo>
                <a:lnTo>
                  <a:pt x="2716317" y="1358159"/>
                </a:lnTo>
                <a:lnTo>
                  <a:pt x="2716317" y="0"/>
                </a:lnTo>
                <a:lnTo>
                  <a:pt x="0" y="0"/>
                </a:lnTo>
                <a:lnTo>
                  <a:pt x="0" y="13581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3314700"/>
            <a:ext cx="164211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96087" y="1517408"/>
            <a:ext cx="9095826" cy="83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 dirty="0">
                <a:solidFill>
                  <a:srgbClr val="252D37"/>
                </a:solidFill>
                <a:latin typeface="Maven Pro Bold"/>
              </a:rPr>
              <a:t>OUTLINE</a:t>
            </a:r>
            <a:endParaRPr lang="en-US" sz="8000" b="1" dirty="0">
              <a:solidFill>
                <a:srgbClr val="252D37"/>
              </a:solidFill>
              <a:latin typeface="Maven Pro Bold"/>
              <a:sym typeface="Maven Pro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650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937064"/>
            <a:ext cx="16421100" cy="5872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200" dirty="0">
                <a:latin typeface="Maven Pro" panose="020B0604020202020204" charset="0"/>
              </a:rPr>
              <a:t>The rapid growth of e-commerce platforms has introduced significant price variability across different online marketplaces. Consumers often struggle to identify the best purchasing time and the most cost-effective platform due to dynamic pricing strategies and frequent discount cycles.</a:t>
            </a:r>
          </a:p>
          <a:p>
            <a:pPr algn="just">
              <a:lnSpc>
                <a:spcPts val="4200"/>
              </a:lnSpc>
            </a:pPr>
            <a:endParaRPr lang="en-US" sz="3200" dirty="0">
              <a:solidFill>
                <a:srgbClr val="252D37"/>
              </a:solidFill>
              <a:latin typeface="Maven Pro" panose="020B0604020202020204" charset="0"/>
              <a:ea typeface="Maven Pro"/>
              <a:cs typeface="Maven Pro"/>
              <a:sym typeface="Maven Pro"/>
            </a:endParaRPr>
          </a:p>
          <a:p>
            <a:pPr algn="just">
              <a:lnSpc>
                <a:spcPts val="4200"/>
              </a:lnSpc>
            </a:pPr>
            <a:r>
              <a:rPr lang="en-US" sz="3200" dirty="0">
                <a:latin typeface="Maven Pro" panose="020B0604020202020204" charset="0"/>
                <a:sym typeface="Maven Pro"/>
              </a:rPr>
              <a:t>PriceSlice is a smart price tracking and comparison system designed to assist users in making informed purchasing decisions. The system aggregates real-time product price data from multiple e-commerce platforms and provides centralized comparison features. The MVP focuses on live price retrieval, product tracking, and structured data storage, forming a foundation for future enhancements such as predictive price forecasting and personalized recommendations.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96087" y="1098025"/>
            <a:ext cx="9095826" cy="83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Abstract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28700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9882025" y="7212565"/>
            <a:ext cx="5094018" cy="89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371" lvl="1" algn="just">
              <a:lnSpc>
                <a:spcPts val="8084"/>
              </a:lnSpc>
            </a:pPr>
            <a:endParaRPr lang="en-US" sz="4042" dirty="0">
              <a:solidFill>
                <a:srgbClr val="25293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95148" y="912379"/>
            <a:ext cx="8297704" cy="7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7301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Introduction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CAE54-3DDC-49E2-E617-3CCAD98838C2}"/>
              </a:ext>
            </a:extLst>
          </p:cNvPr>
          <p:cNvSpPr txBox="1"/>
          <p:nvPr/>
        </p:nvSpPr>
        <p:spPr>
          <a:xfrm>
            <a:off x="1524000" y="2550159"/>
            <a:ext cx="15735299" cy="615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Maven Pro" panose="020B0604020202020204" charset="0"/>
              </a:rPr>
              <a:t>The rapid expansion of e-commerce platforms has led to significant price variability, making it difficult for consumers to identify the best deals across different marketplaces.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Maven Pro" panose="020B0604020202020204" charset="0"/>
              </a:rPr>
              <a:t>Dynamic pricing strategies, seasonal discounts, and competitor-based adjustments create constant price fluctuations that require continuous monitoring.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>
                <a:latin typeface="Maven Pro" panose="020B0604020202020204" charset="0"/>
              </a:rPr>
              <a:t>Existing price comparison tools provide only static snapshots of current prices and lack intelligent tracking or decision-support capabilities.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200" dirty="0" err="1">
                <a:latin typeface="Maven Pro" panose="020B0604020202020204" charset="0"/>
              </a:rPr>
              <a:t>PriceSlice</a:t>
            </a:r>
            <a:r>
              <a:rPr lang="en-IN" sz="3200" dirty="0">
                <a:latin typeface="Maven Pro" panose="020B0604020202020204" charset="0"/>
              </a:rPr>
              <a:t> aims to solve this problem by offering real-time price aggregation, centralized comparison, and structured product tracking to support smarter purchasing decisions.</a:t>
            </a:r>
            <a:r>
              <a:rPr lang="en-US" sz="3200" dirty="0">
                <a:latin typeface="Maven Pro" panose="020B0604020202020204" charset="0"/>
              </a:rPr>
              <a:t> </a:t>
            </a:r>
            <a:endParaRPr lang="en-IN" sz="3200" dirty="0"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557987" y="574151"/>
            <a:ext cx="9095826" cy="83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Literature review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9B61E5-CE62-52C8-1E6A-8F515DB7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735172"/>
              </p:ext>
            </p:extLst>
          </p:nvPr>
        </p:nvGraphicFramePr>
        <p:xfrm>
          <a:off x="838200" y="1954948"/>
          <a:ext cx="16078200" cy="7760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838">
                  <a:extLst>
                    <a:ext uri="{9D8B030D-6E8A-4147-A177-3AD203B41FA5}">
                      <a16:colId xmlns:a16="http://schemas.microsoft.com/office/drawing/2014/main" val="4044107978"/>
                    </a:ext>
                  </a:extLst>
                </a:gridCol>
                <a:gridCol w="1956606">
                  <a:extLst>
                    <a:ext uri="{9D8B030D-6E8A-4147-A177-3AD203B41FA5}">
                      <a16:colId xmlns:a16="http://schemas.microsoft.com/office/drawing/2014/main" val="3387362581"/>
                    </a:ext>
                  </a:extLst>
                </a:gridCol>
                <a:gridCol w="3572934">
                  <a:extLst>
                    <a:ext uri="{9D8B030D-6E8A-4147-A177-3AD203B41FA5}">
                      <a16:colId xmlns:a16="http://schemas.microsoft.com/office/drawing/2014/main" val="2152252383"/>
                    </a:ext>
                  </a:extLst>
                </a:gridCol>
                <a:gridCol w="4593771">
                  <a:extLst>
                    <a:ext uri="{9D8B030D-6E8A-4147-A177-3AD203B41FA5}">
                      <a16:colId xmlns:a16="http://schemas.microsoft.com/office/drawing/2014/main" val="1055780252"/>
                    </a:ext>
                  </a:extLst>
                </a:gridCol>
                <a:gridCol w="4934051">
                  <a:extLst>
                    <a:ext uri="{9D8B030D-6E8A-4147-A177-3AD203B41FA5}">
                      <a16:colId xmlns:a16="http://schemas.microsoft.com/office/drawing/2014/main" val="340760947"/>
                    </a:ext>
                  </a:extLst>
                </a:gridCol>
              </a:tblGrid>
              <a:tr h="90255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Objective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2107"/>
                  </a:ext>
                </a:extLst>
              </a:tr>
              <a:tr h="1369230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  <a:p>
                      <a:r>
                        <a:rPr lang="en-IN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Dhulipalla Tejaswi, et al.(2025)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Price Comparison Application for E-Commerce Using Web Scraping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develop a real-time tool using Python and Flask that identifies </a:t>
                      </a:r>
                      <a:r>
                        <a:rPr lang="en-US" sz="2400" b="1" dirty="0"/>
                        <a:t>identical</a:t>
                      </a:r>
                      <a:r>
                        <a:rPr lang="en-US" sz="2400" dirty="0"/>
                        <a:t> products across multiple platforms (Amazon, Flipkart, etc.) to ensure accurate price comparisons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system relies heavily on a </a:t>
                      </a:r>
                      <a:r>
                        <a:rPr lang="en-US" sz="2400" b="1" dirty="0"/>
                        <a:t>85% similarity threshold</a:t>
                      </a:r>
                      <a:r>
                        <a:rPr lang="en-US" sz="2400" dirty="0"/>
                        <a:t> for matching, which can still lead to "false positives" (incorrectly matching two different products) in categories like clothing where specifications are vague.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205481"/>
                  </a:ext>
                </a:extLst>
              </a:tr>
              <a:tr h="1369230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F. Chen</a:t>
                      </a:r>
                      <a:r>
                        <a:rPr lang="en-IN" sz="2400" dirty="0"/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Research on Real-time E-commerce Price Comparison System Using Python Web Scraping Technology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analyze and compare the efficiency of different scraping libraries (Scrapy, Selenium, BeautifulSoup) for real-time data extraction across various e-commerce architectures.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study focuses primarily on the </a:t>
                      </a:r>
                      <a:r>
                        <a:rPr lang="en-US" sz="2400" b="1" dirty="0"/>
                        <a:t>technical speed</a:t>
                      </a:r>
                      <a:r>
                        <a:rPr lang="en-US" sz="2400" dirty="0"/>
                        <a:t> of data extraction rather than the user-end features; it lacks a robust system for handling </a:t>
                      </a:r>
                      <a:r>
                        <a:rPr lang="en-US" sz="2400" b="1" dirty="0"/>
                        <a:t>historical price tracking</a:t>
                      </a:r>
                      <a:r>
                        <a:rPr lang="en-US" sz="2400" dirty="0"/>
                        <a:t> or user alerts.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931907"/>
                  </a:ext>
                </a:extLst>
              </a:tr>
              <a:tr h="1369230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400" b="1" dirty="0"/>
                        <a:t>S. Bezalwar et al.</a:t>
                      </a:r>
                      <a:r>
                        <a:rPr lang="da-DK" sz="2400" dirty="0"/>
                        <a:t> (2022)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E-Commerce Price Comparison with Review Sentimental Analysis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create a system that combines numerical price data with Natural Language Processing (NLP) of user reviews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sentiment analysis adds significant </a:t>
                      </a:r>
                      <a:r>
                        <a:rPr lang="en-US" sz="2400" b="1" dirty="0"/>
                        <a:t>computational overhead</a:t>
                      </a:r>
                      <a:r>
                        <a:rPr lang="en-US" sz="2400" dirty="0"/>
                        <a:t>, leading to slower response times for the user, and it struggle with "sarcastic" reviews which can skew the overall product rating.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706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986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557987" y="574151"/>
            <a:ext cx="9095826" cy="83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8000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Literature review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4354175" y="-1238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9B61E5-CE62-52C8-1E6A-8F515DB7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664185"/>
              </p:ext>
            </p:extLst>
          </p:nvPr>
        </p:nvGraphicFramePr>
        <p:xfrm>
          <a:off x="838200" y="1954948"/>
          <a:ext cx="16078200" cy="6274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838">
                  <a:extLst>
                    <a:ext uri="{9D8B030D-6E8A-4147-A177-3AD203B41FA5}">
                      <a16:colId xmlns:a16="http://schemas.microsoft.com/office/drawing/2014/main" val="4044107978"/>
                    </a:ext>
                  </a:extLst>
                </a:gridCol>
                <a:gridCol w="2103362">
                  <a:extLst>
                    <a:ext uri="{9D8B030D-6E8A-4147-A177-3AD203B41FA5}">
                      <a16:colId xmlns:a16="http://schemas.microsoft.com/office/drawing/2014/main" val="3387362581"/>
                    </a:ext>
                  </a:extLst>
                </a:gridCol>
                <a:gridCol w="3426178">
                  <a:extLst>
                    <a:ext uri="{9D8B030D-6E8A-4147-A177-3AD203B41FA5}">
                      <a16:colId xmlns:a16="http://schemas.microsoft.com/office/drawing/2014/main" val="2152252383"/>
                    </a:ext>
                  </a:extLst>
                </a:gridCol>
                <a:gridCol w="4593771">
                  <a:extLst>
                    <a:ext uri="{9D8B030D-6E8A-4147-A177-3AD203B41FA5}">
                      <a16:colId xmlns:a16="http://schemas.microsoft.com/office/drawing/2014/main" val="1055780252"/>
                    </a:ext>
                  </a:extLst>
                </a:gridCol>
                <a:gridCol w="4934051">
                  <a:extLst>
                    <a:ext uri="{9D8B030D-6E8A-4147-A177-3AD203B41FA5}">
                      <a16:colId xmlns:a16="http://schemas.microsoft.com/office/drawing/2014/main" val="340760947"/>
                    </a:ext>
                  </a:extLst>
                </a:gridCol>
              </a:tblGrid>
              <a:tr h="119400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Objective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52107"/>
                  </a:ext>
                </a:extLst>
              </a:tr>
              <a:tr h="2540324">
                <a:tc>
                  <a:txBody>
                    <a:bodyPr/>
                    <a:lstStyle/>
                    <a:p>
                      <a:r>
                        <a:rPr lang="en-IN" sz="2400" dirty="0"/>
                        <a:t>4</a:t>
                      </a:r>
                    </a:p>
                    <a:p>
                      <a:r>
                        <a:rPr lang="en-IN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G. </a:t>
                      </a:r>
                      <a:r>
                        <a:rPr lang="en-IN" sz="2400" b="1" dirty="0" err="1"/>
                        <a:t>Ponsam</a:t>
                      </a:r>
                      <a:r>
                        <a:rPr lang="en-IN" sz="2400" b="1" dirty="0"/>
                        <a:t>, </a:t>
                      </a:r>
                      <a:r>
                        <a:rPr lang="en-IN" sz="2400" dirty="0"/>
                        <a:t>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Predictive Modeling and Dynamic Analysis of Price Trends in eCommerce using ML Technique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utilize advanced ML algorithms (like </a:t>
                      </a:r>
                      <a:r>
                        <a:rPr lang="en-US" sz="2400" b="1" dirty="0"/>
                        <a:t>LSTM</a:t>
                      </a:r>
                      <a:r>
                        <a:rPr lang="en-US" sz="2400" dirty="0"/>
                        <a:t> and </a:t>
                      </a:r>
                      <a:r>
                        <a:rPr lang="en-US" sz="2400" b="1" dirty="0" err="1"/>
                        <a:t>LightGBM</a:t>
                      </a:r>
                      <a:r>
                        <a:rPr lang="en-US" sz="2400" dirty="0"/>
                        <a:t>) to forecast future price movements based on historical patterns.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high computational demand of these models can cause </a:t>
                      </a:r>
                      <a:r>
                        <a:rPr lang="en-US" sz="2400" b="1" dirty="0"/>
                        <a:t>latency issues</a:t>
                      </a:r>
                      <a:r>
                        <a:rPr lang="en-US" sz="2400" dirty="0"/>
                        <a:t>, making them difficult to use for "instant" price checks on lower-end hardware.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205481"/>
                  </a:ext>
                </a:extLst>
              </a:tr>
              <a:tr h="2540324">
                <a:tc>
                  <a:txBody>
                    <a:bodyPr/>
                    <a:lstStyle/>
                    <a:p>
                      <a:r>
                        <a:rPr lang="en-IN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M. </a:t>
                      </a:r>
                      <a:r>
                        <a:rPr lang="en-IN" sz="2400" b="1" dirty="0" err="1"/>
                        <a:t>Senbagavalli</a:t>
                      </a:r>
                      <a:r>
                        <a:rPr lang="en-IN" sz="2400" b="1" dirty="0"/>
                        <a:t>,</a:t>
                      </a:r>
                      <a:r>
                        <a:rPr lang="en-IN" sz="2400" dirty="0"/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Dynamic Price Monitoring in eCommerce Leveraging Web Scraping, Data Analysis, and Email Automation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 build an end-to-end automated system that not only tracks prices but also sends </a:t>
                      </a:r>
                      <a:r>
                        <a:rPr lang="en-US" sz="2400" b="1" dirty="0"/>
                        <a:t>instant email alerts</a:t>
                      </a:r>
                      <a:r>
                        <a:rPr lang="en-US" sz="2400" dirty="0"/>
                        <a:t> via </a:t>
                      </a:r>
                      <a:r>
                        <a:rPr lang="en-US" sz="2400" dirty="0" err="1"/>
                        <a:t>Nodemailer</a:t>
                      </a:r>
                      <a:r>
                        <a:rPr lang="en-US" sz="2400" dirty="0"/>
                        <a:t> when a price drop occurs.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system is highly vulnerable to </a:t>
                      </a:r>
                      <a:r>
                        <a:rPr lang="en-US" sz="2400" b="1" dirty="0"/>
                        <a:t>anti-scraping updates</a:t>
                      </a:r>
                      <a:r>
                        <a:rPr lang="en-US" sz="2400" dirty="0"/>
                        <a:t>; if a site like Amazon changes its HTML structure, the automation script fails immediately until manually fixed.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93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08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9882025" y="7212565"/>
            <a:ext cx="5094018" cy="89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371" lvl="1" algn="just">
              <a:lnSpc>
                <a:spcPts val="8084"/>
              </a:lnSpc>
            </a:pPr>
            <a:endParaRPr lang="en-US" sz="4042" dirty="0">
              <a:solidFill>
                <a:srgbClr val="25293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95148" y="912379"/>
            <a:ext cx="8297704" cy="75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41"/>
              </a:lnSpc>
            </a:pPr>
            <a:r>
              <a:rPr lang="en-US" sz="7301" b="1" dirty="0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References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-211950" y="-10477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7773650" y="8229600"/>
            <a:ext cx="516220" cy="2057400"/>
          </a:xfrm>
          <a:custGeom>
            <a:avLst/>
            <a:gdLst/>
            <a:ahLst/>
            <a:cxnLst/>
            <a:rect l="l" t="t" r="r" b="b"/>
            <a:pathLst>
              <a:path w="516220" h="2057400">
                <a:moveTo>
                  <a:pt x="0" y="0"/>
                </a:moveTo>
                <a:lnTo>
                  <a:pt x="516220" y="0"/>
                </a:lnTo>
                <a:lnTo>
                  <a:pt x="51622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4542983" y="9077308"/>
            <a:ext cx="2716317" cy="1358159"/>
          </a:xfrm>
          <a:custGeom>
            <a:avLst/>
            <a:gdLst/>
            <a:ahLst/>
            <a:cxnLst/>
            <a:rect l="l" t="t" r="r" b="b"/>
            <a:pathLst>
              <a:path w="2716317" h="1358159">
                <a:moveTo>
                  <a:pt x="0" y="0"/>
                </a:moveTo>
                <a:lnTo>
                  <a:pt x="2716317" y="0"/>
                </a:lnTo>
                <a:lnTo>
                  <a:pt x="2716317" y="1358159"/>
                </a:lnTo>
                <a:lnTo>
                  <a:pt x="0" y="135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6CAE54-3DDC-49E2-E617-3CCAD98838C2}"/>
              </a:ext>
            </a:extLst>
          </p:cNvPr>
          <p:cNvSpPr txBox="1"/>
          <p:nvPr/>
        </p:nvSpPr>
        <p:spPr>
          <a:xfrm>
            <a:off x="1524000" y="2550159"/>
            <a:ext cx="15735299" cy="4690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Paper-1: </a:t>
            </a:r>
            <a:r>
              <a:rPr lang="en-IN" sz="3200" dirty="0">
                <a:latin typeface="Maven Pro" panose="020B0604020202020204" charset="0"/>
                <a:hlinkClick r:id="rId8"/>
              </a:rPr>
              <a:t>https://iarjset.com/wp-content/uploads/2025/04/IARJSET.2025.12431.pdf</a:t>
            </a:r>
            <a:endParaRPr lang="en-IN" sz="3200" dirty="0">
              <a:latin typeface="Maven Pro" panose="020B0604020202020204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Paper-2: </a:t>
            </a:r>
            <a:r>
              <a:rPr lang="en-IN" sz="3200" dirty="0">
                <a:latin typeface="Maven Pro" panose="020B0604020202020204" charset="0"/>
                <a:hlinkClick r:id="rId9"/>
              </a:rPr>
              <a:t>https://wepub.org/index.php/IJCSIT/article/view/4081</a:t>
            </a:r>
            <a:endParaRPr lang="en-IN" sz="3200" dirty="0">
              <a:latin typeface="Maven Pro" panose="020B0604020202020204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Paper-3: </a:t>
            </a:r>
            <a:r>
              <a:rPr lang="en-IN" sz="3200" dirty="0">
                <a:latin typeface="Maven Pro" panose="020B0604020202020204" charset="0"/>
                <a:hlinkClick r:id="rId10"/>
              </a:rPr>
              <a:t>https://ijcsmc.com/docs/papers/March2022/V11I3202227.pdf</a:t>
            </a:r>
            <a:endParaRPr lang="en-IN" sz="3200" dirty="0">
              <a:latin typeface="Maven Pro" panose="020B0604020202020204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Paper-4: </a:t>
            </a:r>
            <a:r>
              <a:rPr lang="en-US" sz="3200" dirty="0">
                <a:hlinkClick r:id="rId11"/>
              </a:rPr>
              <a:t>Predictive Modeling and Dynamic Analysis of Price Trends in eCommerce using ML Technique | IEEE Conference Publication | IEEE Xplore</a:t>
            </a:r>
            <a:endParaRPr lang="en-IN" sz="3200" dirty="0">
              <a:latin typeface="Maven Pro" panose="020B0604020202020204" charset="0"/>
            </a:endParaRPr>
          </a:p>
          <a:p>
            <a:pPr marL="514350" indent="-5143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3200" dirty="0">
                <a:latin typeface="Maven Pro" panose="020B0604020202020204" charset="0"/>
              </a:rPr>
              <a:t>Paper-5: </a:t>
            </a:r>
            <a:r>
              <a:rPr lang="en-IN" sz="3200" dirty="0">
                <a:hlinkClick r:id="rId12"/>
              </a:rPr>
              <a:t>dynamic-price-monitoring-in-ecommerce-leveraging-web-scraping-data-analysis-and-email-automation-for-dynamic-pricing-insights</a:t>
            </a:r>
            <a:endParaRPr lang="en-IN" sz="3200" dirty="0"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533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54150" y="3832722"/>
            <a:ext cx="12779699" cy="179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35"/>
              </a:lnSpc>
            </a:pPr>
            <a:r>
              <a:rPr lang="en-US" sz="15544" b="1">
                <a:solidFill>
                  <a:srgbClr val="252D37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6974593"/>
            <a:ext cx="809919" cy="3227938"/>
          </a:xfrm>
          <a:custGeom>
            <a:avLst/>
            <a:gdLst/>
            <a:ahLst/>
            <a:cxnLst/>
            <a:rect l="l" t="t" r="r" b="b"/>
            <a:pathLst>
              <a:path w="809919" h="3227938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613969" y="8304597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10800000">
            <a:off x="17582856" y="118636"/>
            <a:ext cx="809919" cy="3227938"/>
          </a:xfrm>
          <a:custGeom>
            <a:avLst/>
            <a:gdLst/>
            <a:ahLst/>
            <a:cxnLst/>
            <a:rect l="l" t="t" r="r" b="b"/>
            <a:pathLst>
              <a:path w="809919" h="3227938">
                <a:moveTo>
                  <a:pt x="0" y="0"/>
                </a:moveTo>
                <a:lnTo>
                  <a:pt x="809919" y="0"/>
                </a:lnTo>
                <a:lnTo>
                  <a:pt x="809919" y="3227938"/>
                </a:lnTo>
                <a:lnTo>
                  <a:pt x="0" y="322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10800000">
            <a:off x="12517066" y="-114300"/>
            <a:ext cx="4261740" cy="2130870"/>
          </a:xfrm>
          <a:custGeom>
            <a:avLst/>
            <a:gdLst/>
            <a:ahLst/>
            <a:cxnLst/>
            <a:rect l="l" t="t" r="r" b="b"/>
            <a:pathLst>
              <a:path w="4261740" h="2130870">
                <a:moveTo>
                  <a:pt x="0" y="0"/>
                </a:moveTo>
                <a:lnTo>
                  <a:pt x="4261740" y="0"/>
                </a:lnTo>
                <a:lnTo>
                  <a:pt x="4261740" y="2130870"/>
                </a:lnTo>
                <a:lnTo>
                  <a:pt x="0" y="2130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719</Words>
  <Application>Microsoft Office PowerPoint</Application>
  <PresentationFormat>Custom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Maven Pro Bold</vt:lpstr>
      <vt:lpstr>Maven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Ivory Black Simple Geometric Research Project Presentation</dc:title>
  <dc:creator>Galib Hussain Syed</dc:creator>
  <cp:lastModifiedBy>Rushank Chaudhari</cp:lastModifiedBy>
  <cp:revision>13</cp:revision>
  <dcterms:created xsi:type="dcterms:W3CDTF">2006-08-16T00:00:00Z</dcterms:created>
  <dcterms:modified xsi:type="dcterms:W3CDTF">2026-02-21T05:18:38Z</dcterms:modified>
  <dc:identifier>DAG14XbJhZ4</dc:identifier>
</cp:coreProperties>
</file>